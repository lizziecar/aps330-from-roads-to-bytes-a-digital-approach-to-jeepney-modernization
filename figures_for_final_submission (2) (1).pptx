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7436" autoAdjust="0"/>
  </p:normalViewPr>
  <p:slideViewPr>
    <p:cSldViewPr snapToGrid="0">
      <p:cViewPr varScale="1">
        <p:scale>
          <a:sx n="162" d="100"/>
          <a:sy n="162" d="100"/>
        </p:scale>
        <p:origin x="176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2FB0-D5AF-CC0F-0927-41CA30084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702870-D1AC-26E3-F9C3-620C1B727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A7DF8-15E5-5906-3FA6-2526078A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9FBD8-40AA-D7E6-EA42-3AA428E4D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50758-F661-D92D-4A9B-FE532DFA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9094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21BC-B27B-54E4-BD65-C695E22D3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4047F-1CC2-ED6E-3793-5597392E1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D78F7-771C-B0C9-3433-E998B350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24A5A-AE99-8798-3131-B26F9A8E7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44308-6297-E621-FF55-BB9539E9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77766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F0C6-4BA2-A8CE-AB73-80137579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185F8-2CC4-255B-3E05-617087D87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3C0F7-D74A-2DBC-00DD-5580ECCE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2FD2D-DFE2-DF52-10CA-6A167D1C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B1753-FE14-AB52-E6C1-144C842D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49544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95C0B-6FF8-3657-1D18-B071FB0F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05465-EC6F-C99D-6A36-D6BD275E5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3812F3-50F2-D99E-33DA-CED07DE5E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CFB87-4B9E-8837-F751-181FF7E4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AE1EB-D34D-5CEA-6FFA-204F3295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31966-FFE8-2A9E-A0FC-AA649D404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4890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036E-4565-737E-F16D-5D0DD8BEA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E383-7C26-8FD5-44C9-BCB445E5A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63497-1971-882C-43E3-E2CB1202E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66B9F-E963-2266-38DD-1ACBCAFAD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1A1047-DAF0-99BD-5670-95188D683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971FF-D665-F0D7-C221-3CD0BA74D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DBD14-100E-DC08-A6B7-7B18841A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27BACD-4D73-D85A-65C4-C009FB10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692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E32D-93AD-5DEE-1D36-4AEA5975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DCF1A-5DBD-5A90-F316-68449BA22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876709-0EBF-14F8-37C7-70E1FA6D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D56BC-C64A-B3DC-B44A-3141BA35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711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96D3A1-B41B-EB31-4B3F-B7521DE4B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18A92-CF97-5E00-E0B1-4399B4BBC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264A3-1FD1-50A6-3489-34D9A868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781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8715F-040D-DE49-A1D2-D1F0A961B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66C14-6556-C779-1C71-1804D30D5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96562-7D64-80C3-E0F6-6CE0486E2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6927E-A544-118C-89A2-1BD36106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3DCF4-0967-2449-F6CE-E2626130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CB35-D920-A4EB-4C06-6839FD6C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2193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9850-DF11-6846-1963-07ED6EF3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8F876A-49DF-BC8B-A2DC-C5DF24D0F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41E79-C7DF-AE7F-CA24-A1BBF2F43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7C590-77C3-3C71-DCA5-10590AD7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C12EF-A2F5-BBD3-85B7-20F0A3C9F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9A52D-7FFD-9290-FC4D-2427C7AA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903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E4C4-C003-A7B0-8889-0ABF9A6CD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5698E-BC9A-CCAB-B806-4A752F823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60882-FABC-261C-2865-BAB02C3A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8AD7C-F0EC-893C-5EBF-FBFD19A3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98C-BD9A-723A-38C1-BCDEFC4D9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5272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4F96E7-22CE-B854-B284-F0C12E2D3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15CE4-FBFE-EC23-72CE-FA5D1FD3C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F6D37-890C-6AFA-5F2B-A286B50A2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A4BAE-5A7F-41BE-C537-93FD2389C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C7D4F-64BA-FA37-34CC-DF71421A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959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724DE-515D-FE05-10EF-D545005B4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A0DDD-8C44-7613-933F-B7A62B1B9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848D-7CC6-904C-A85A-92962D320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C9D2B-F427-4444-8850-BB55C0F8A0AA}" type="datetimeFigureOut">
              <a:rPr lang="fr-CA" smtClean="0"/>
              <a:t>2024-03-19</a:t>
            </a:fld>
            <a:endParaRPr lang="fr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BFD4-B7D6-5BCB-9C09-AF083CDC7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621D-2B86-E0C9-41E6-09671A25E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04327A-5354-417A-9609-76553D19A6A6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3668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35492C-FEDD-E670-7AE7-B7F42E7A1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7753059"/>
              </p:ext>
            </p:extLst>
          </p:nvPr>
        </p:nvGraphicFramePr>
        <p:xfrm>
          <a:off x="0" y="2"/>
          <a:ext cx="12191999" cy="6915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077">
                  <a:extLst>
                    <a:ext uri="{9D8B030D-6E8A-4147-A177-3AD203B41FA5}">
                      <a16:colId xmlns:a16="http://schemas.microsoft.com/office/drawing/2014/main" val="3357298003"/>
                    </a:ext>
                  </a:extLst>
                </a:gridCol>
                <a:gridCol w="2048570">
                  <a:extLst>
                    <a:ext uri="{9D8B030D-6E8A-4147-A177-3AD203B41FA5}">
                      <a16:colId xmlns:a16="http://schemas.microsoft.com/office/drawing/2014/main" val="3865728781"/>
                    </a:ext>
                  </a:extLst>
                </a:gridCol>
                <a:gridCol w="2507732">
                  <a:extLst>
                    <a:ext uri="{9D8B030D-6E8A-4147-A177-3AD203B41FA5}">
                      <a16:colId xmlns:a16="http://schemas.microsoft.com/office/drawing/2014/main" val="921126967"/>
                    </a:ext>
                  </a:extLst>
                </a:gridCol>
                <a:gridCol w="3088553">
                  <a:extLst>
                    <a:ext uri="{9D8B030D-6E8A-4147-A177-3AD203B41FA5}">
                      <a16:colId xmlns:a16="http://schemas.microsoft.com/office/drawing/2014/main" val="578914038"/>
                    </a:ext>
                  </a:extLst>
                </a:gridCol>
                <a:gridCol w="2369067">
                  <a:extLst>
                    <a:ext uri="{9D8B030D-6E8A-4147-A177-3AD203B41FA5}">
                      <a16:colId xmlns:a16="http://schemas.microsoft.com/office/drawing/2014/main" val="3159395923"/>
                    </a:ext>
                  </a:extLst>
                </a:gridCol>
              </a:tblGrid>
              <a:tr h="893101">
                <a:tc>
                  <a:txBody>
                    <a:bodyPr/>
                    <a:lstStyle/>
                    <a:p>
                      <a:r>
                        <a:rPr lang="en-CA" dirty="0"/>
                        <a:t>Phase 1: Formation of Steering Committee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Phase 2: Data Acquisition &amp; Preparation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Phase 3: Data analysis &amp; competitive tendering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Phase 4: Implementation</a:t>
                      </a:r>
                      <a:endParaRPr lang="fr-C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Phase 5: Adjustment</a:t>
                      </a:r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125194"/>
                  </a:ext>
                </a:extLst>
              </a:tr>
              <a:tr h="437654">
                <a:tc>
                  <a:txBody>
                    <a:bodyPr/>
                    <a:lstStyle/>
                    <a:p>
                      <a:r>
                        <a:rPr lang="en-CA" sz="1600" dirty="0"/>
                        <a:t>Duration: as needed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Duration: 1 month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Duration: 1 year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CA" sz="1600" dirty="0"/>
                        <a:t>Duration: variable per LGU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204712"/>
                  </a:ext>
                </a:extLst>
              </a:tr>
              <a:tr h="826021">
                <a:tc>
                  <a:txBody>
                    <a:bodyPr/>
                    <a:lstStyle/>
                    <a:p>
                      <a:r>
                        <a:rPr lang="en-CA" sz="1600" dirty="0"/>
                        <a:t>Formation of Steering Committee for each LGU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dirty="0"/>
                        <a:t>Mapping jeepney routes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Private companies are provided the data from GPS trackers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Add jeepney stops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/>
                        <a:t>Evaluation of stakeholders' opinions on implementation</a:t>
                      </a:r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564450"/>
                  </a:ext>
                </a:extLst>
              </a:tr>
              <a:tr h="1041951">
                <a:tc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dirty="0"/>
                        <a:t>Equipping majority of jeepneys with GPS trackers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Private companies submit proposals to route rationalization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600" dirty="0"/>
                        <a:t>Encourage consolidation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600" dirty="0"/>
                        <a:t>Centralized fare system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600" dirty="0"/>
                        <a:t>Integrate with Mobile Application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CA" sz="1600" dirty="0"/>
                        <a:t>Adjustments as needed</a:t>
                      </a:r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273251"/>
                  </a:ext>
                </a:extLst>
              </a:tr>
              <a:tr h="565630">
                <a:tc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Proposals are evaluated by a group of experts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Reducing environmental impact of fleet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905523"/>
                  </a:ext>
                </a:extLst>
              </a:tr>
              <a:tr h="573375">
                <a:tc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Winners will be able to implement their plan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Implement private companies' plan module by module</a:t>
                      </a:r>
                      <a:endParaRPr lang="fr-CA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CA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630413"/>
                  </a:ext>
                </a:extLst>
              </a:tr>
              <a:tr h="1041951">
                <a:tc>
                  <a:txBody>
                    <a:bodyPr/>
                    <a:lstStyle/>
                    <a:p>
                      <a:r>
                        <a:rPr lang="en-CA" sz="1600" dirty="0"/>
                        <a:t>Requirements: Defining purpose, objectives and membership</a:t>
                      </a:r>
                    </a:p>
                    <a:p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Requirements: Government and drivers/owners' approval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Requirements: Data &amp; transparency in evaluation criteria for competitive tendering process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Requirements: Comprehensive and clear plan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/>
                        <a:t>Requirements: Implemented pilot program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660628"/>
                  </a:ext>
                </a:extLst>
              </a:tr>
              <a:tr h="1201556">
                <a:tc>
                  <a:txBody>
                    <a:bodyPr/>
                    <a:lstStyle/>
                    <a:p>
                      <a:r>
                        <a:rPr lang="en-CA" sz="1600" dirty="0"/>
                        <a:t>Goal: support modernization plan through education and awareness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Goal: acquire data &amp; eliminate boundary system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Goal: Use data to establish a plan &amp; use plan to steer stakeholders through education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Goal: Tailored, gradual and modular implementation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/>
                        <a:t>Goal: Adjust to the need of stakeholders</a:t>
                      </a:r>
                      <a:endParaRPr lang="fr-CA" sz="1600" dirty="0"/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347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966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8ED70B-FB52-76F6-6538-D90138A9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151" y="0"/>
            <a:ext cx="8779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5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220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 Giurca</dc:creator>
  <cp:lastModifiedBy>Patricia Giurca</cp:lastModifiedBy>
  <cp:revision>4</cp:revision>
  <dcterms:created xsi:type="dcterms:W3CDTF">2024-03-18T13:45:42Z</dcterms:created>
  <dcterms:modified xsi:type="dcterms:W3CDTF">2024-03-20T01:07:05Z</dcterms:modified>
</cp:coreProperties>
</file>